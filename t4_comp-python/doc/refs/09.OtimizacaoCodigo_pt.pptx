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82" r:id="rId2"/>
    <p:sldId id="296" r:id="rId3"/>
    <p:sldId id="284" r:id="rId4"/>
    <p:sldId id="297" r:id="rId5"/>
    <p:sldId id="298" r:id="rId6"/>
    <p:sldId id="299" r:id="rId7"/>
    <p:sldId id="300" r:id="rId8"/>
    <p:sldId id="285" r:id="rId9"/>
    <p:sldId id="301" r:id="rId10"/>
    <p:sldId id="302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9144000" cy="6858000" type="screen4x3"/>
  <p:notesSz cx="6724650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99"/>
    <a:srgbClr val="FFCCFF"/>
    <a:srgbClr val="FFFF00"/>
    <a:srgbClr val="FFFF99"/>
    <a:srgbClr val="FF33CC"/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-73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968" y="-90"/>
      </p:cViewPr>
      <p:guideLst>
        <p:guide orient="horz" pos="3126"/>
        <p:guide pos="211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8413" y="0"/>
            <a:ext cx="29146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1C96B-6545-4BD0-A4B7-BFCC208F3326}" type="datetimeFigureOut">
              <a:rPr lang="en-US" smtClean="0"/>
              <a:pPr/>
              <a:t>11/18/2010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146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8413" y="9428163"/>
            <a:ext cx="29146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A722-EAEA-4ABF-90A7-CBFED3CE49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2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92538" y="0"/>
            <a:ext cx="29591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68350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9638" y="4687888"/>
            <a:ext cx="49307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51975"/>
            <a:ext cx="2882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2538" y="9451975"/>
            <a:ext cx="2959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07028F-4D24-432A-9E99-97710ADC89A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02F86-B434-41E4-98C7-085899CBC920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D9C5D3-4A70-4AEA-A264-CA478DA7AD0F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4B7FD-9F25-4670-92EC-F2C029B523E6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1C9D1-146E-4AFC-B0A0-41787F88BEC6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879CB-FB28-408D-A91E-2F81D4E2BF64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BFDDD9-71D0-4015-A0EB-142AB0665D8B}" type="slidenum">
              <a:rPr lang="de-DE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C6710-9807-4FFA-93FA-FEF5A289554C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6" name="Straight Connector 5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6BBE1E-49C5-422B-A59F-605440B6F5A4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2333E-6EE5-4796-A6A7-36747CF21CD2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5517E-23DC-49BA-A5F3-C9930FEBC1E9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AB865B-A499-4909-BE9A-1424FAA5A5AE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6858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dirty="0" smtClean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dirty="0" smtClean="0"/>
              <a:t>Klicken Sie, um die Formate des Vorlagentextes zu bearbeiten</a:t>
            </a:r>
          </a:p>
          <a:p>
            <a:pPr lvl="1"/>
            <a:r>
              <a:rPr lang="pt-BR" noProof="0" dirty="0" smtClean="0"/>
              <a:t>Zweite Ebene</a:t>
            </a:r>
          </a:p>
          <a:p>
            <a:pPr lvl="2"/>
            <a:r>
              <a:rPr lang="pt-BR" noProof="0" dirty="0" smtClean="0"/>
              <a:t>Dritte Ebene</a:t>
            </a:r>
          </a:p>
          <a:p>
            <a:pPr lvl="3"/>
            <a:r>
              <a:rPr lang="pt-BR" noProof="0" dirty="0" smtClean="0"/>
              <a:t>Vierte Ebene</a:t>
            </a:r>
          </a:p>
          <a:p>
            <a:pPr lvl="4"/>
            <a:r>
              <a:rPr lang="pt-BR" noProof="0" dirty="0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CAE9A1-9A71-4B1E-BFC8-6E656F8F785F}" type="slidenum">
              <a:rPr lang="de-DE"/>
              <a:pPr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673100" y="6350000"/>
            <a:ext cx="77978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3F60E-FCEC-4C68-B6A9-5AA2742AAB31}" type="slidenum">
              <a:rPr lang="de-DE"/>
              <a:pPr/>
              <a:t>1</a:t>
            </a:fld>
            <a:endParaRPr lang="de-DE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048000"/>
            <a:ext cx="6400800" cy="2209800"/>
          </a:xfrm>
        </p:spPr>
        <p:txBody>
          <a:bodyPr/>
          <a:lstStyle/>
          <a:p>
            <a:endParaRPr lang="de-DE"/>
          </a:p>
          <a:p>
            <a:endParaRPr lang="de-DE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722313" y="1211675"/>
            <a:ext cx="3876680" cy="1104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381000" algn="l"/>
                <a:tab pos="952500" algn="l"/>
              </a:tabLst>
            </a:pPr>
            <a:r>
              <a:rPr lang="pt-BR" sz="3200" dirty="0" smtClean="0">
                <a:solidFill>
                  <a:srgbClr val="FF0000"/>
                </a:solidFill>
              </a:rPr>
              <a:t>Otimização de Código</a:t>
            </a:r>
            <a:endParaRPr lang="pt-BR" sz="3200" dirty="0" smtClean="0">
              <a:solidFill>
                <a:srgbClr val="FF0000"/>
              </a:solidFill>
            </a:endParaRPr>
          </a:p>
          <a:p>
            <a:pPr>
              <a:spcBef>
                <a:spcPct val="40000"/>
              </a:spcBef>
              <a:tabLst>
                <a:tab pos="381000" algn="l"/>
                <a:tab pos="952500" algn="l"/>
              </a:tabLst>
            </a:pPr>
            <a:r>
              <a:rPr lang="pt-BR" sz="2400" dirty="0" smtClean="0">
                <a:solidFill>
                  <a:srgbClr val="FF0000"/>
                </a:solidFill>
              </a:rPr>
              <a:t>	</a:t>
            </a:r>
            <a:endParaRPr lang="pt-BR" sz="24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59838" y="6314234"/>
            <a:ext cx="6032209" cy="511175"/>
          </a:xfrm>
          <a:noFill/>
        </p:spPr>
        <p:txBody>
          <a:bodyPr/>
          <a:lstStyle/>
          <a:p>
            <a:r>
              <a:rPr lang="pt-BR" dirty="0" smtClean="0"/>
              <a:t>Compiladores</a:t>
            </a:r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34791"/>
            <a:ext cx="7772400" cy="5414494"/>
          </a:xfrm>
        </p:spPr>
        <p:txBody>
          <a:bodyPr/>
          <a:lstStyle/>
          <a:p>
            <a:r>
              <a:rPr lang="en-US" dirty="0" smtClean="0"/>
              <a:t>A compiler usually has many optimization settings (e.g. peephole, delayed-branch, etc)</a:t>
            </a:r>
          </a:p>
          <a:p>
            <a:pPr lvl="1"/>
            <a:r>
              <a:rPr lang="en-US" sz="2400" dirty="0" err="1" smtClean="0"/>
              <a:t>gcc</a:t>
            </a:r>
            <a:r>
              <a:rPr lang="en-US" sz="2400" dirty="0" smtClean="0"/>
              <a:t> 3.3 has 54 optimization options</a:t>
            </a:r>
          </a:p>
          <a:p>
            <a:pPr lvl="1"/>
            <a:r>
              <a:rPr lang="en-US" sz="2400" dirty="0" err="1" smtClean="0"/>
              <a:t>gcc</a:t>
            </a:r>
            <a:r>
              <a:rPr lang="en-US" sz="2400" dirty="0" smtClean="0"/>
              <a:t> 4 has over 100 possible settings</a:t>
            </a:r>
          </a:p>
          <a:p>
            <a:endParaRPr lang="en-US" dirty="0" smtClean="0"/>
          </a:p>
          <a:p>
            <a:r>
              <a:rPr lang="en-US" dirty="0" smtClean="0"/>
              <a:t>Compiler </a:t>
            </a:r>
            <a:r>
              <a:rPr lang="en-US" dirty="0" smtClean="0"/>
              <a:t>writers typically include switches that bundle together many optimization options </a:t>
            </a:r>
          </a:p>
          <a:p>
            <a:pPr lvl="1"/>
            <a:r>
              <a:rPr lang="en-US" sz="2400" dirty="0" err="1" smtClean="0"/>
              <a:t>gcc</a:t>
            </a:r>
            <a:r>
              <a:rPr lang="en-US" sz="2400" dirty="0" smtClean="0"/>
              <a:t> –O1, -O2, -O3 </a:t>
            </a:r>
            <a:endParaRPr lang="en-US" sz="2400" dirty="0" smtClean="0"/>
          </a:p>
          <a:p>
            <a:pPr lvl="1"/>
            <a:endParaRPr lang="pt-BR" sz="2400" dirty="0" smtClean="0"/>
          </a:p>
          <a:p>
            <a:pPr eaLnBrk="1" hangingPunct="1"/>
            <a:r>
              <a:rPr lang="en-US" sz="2500" b="1" dirty="0" smtClean="0"/>
              <a:t>Optimizing compiler:</a:t>
            </a:r>
          </a:p>
          <a:p>
            <a:pPr lvl="1" eaLnBrk="1" hangingPunct="1"/>
            <a:r>
              <a:rPr lang="en-US" sz="2200" dirty="0" smtClean="0"/>
              <a:t>Misnomer!</a:t>
            </a:r>
          </a:p>
          <a:p>
            <a:pPr lvl="2" eaLnBrk="1" hangingPunct="1"/>
            <a:r>
              <a:rPr lang="en-US" sz="2000" dirty="0" smtClean="0"/>
              <a:t>Optimal compilation intractable</a:t>
            </a:r>
          </a:p>
          <a:p>
            <a:pPr lvl="1" eaLnBrk="1" hangingPunct="1"/>
            <a:r>
              <a:rPr lang="en-US" sz="2200" i="1" dirty="0" smtClean="0"/>
              <a:t>Improves</a:t>
            </a:r>
            <a:r>
              <a:rPr lang="en-US" sz="2200" dirty="0" smtClean="0"/>
              <a:t> program performance</a:t>
            </a:r>
          </a:p>
          <a:p>
            <a:pPr lvl="1"/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C5D3-4A70-4AEA-A264-CA478DA7AD0F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Compiler Code Optimizations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Introduction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Optimized code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Executes faster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efficient memory usage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 yielding better performance.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Compilers can be designed to provide code optimization.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Users should only focus on optimizations not provided by the compiler such as choosing a faster and/or less memory intensive algorithm.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10B175-AF03-441E-B865-1B00468C916A}" type="slidenum">
              <a:rPr lang="en-US"/>
              <a:pPr/>
              <a:t>4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Compilers Matter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Key part of compiler’s job:</a:t>
            </a:r>
            <a:br>
              <a:rPr lang="en-US" dirty="0" smtClean="0"/>
            </a:br>
            <a:r>
              <a:rPr lang="en-US" b="1" dirty="0" smtClean="0"/>
              <a:t>make the costs of abstraction reasonable</a:t>
            </a:r>
          </a:p>
          <a:p>
            <a:pPr lvl="1" eaLnBrk="1" hangingPunct="1"/>
            <a:r>
              <a:rPr lang="en-US" dirty="0" smtClean="0"/>
              <a:t>Remove performance penalty for:</a:t>
            </a:r>
          </a:p>
          <a:p>
            <a:pPr lvl="2" eaLnBrk="1" hangingPunct="1"/>
            <a:r>
              <a:rPr lang="en-US" dirty="0" smtClean="0"/>
              <a:t>Using objects</a:t>
            </a:r>
          </a:p>
          <a:p>
            <a:pPr lvl="2" eaLnBrk="1" hangingPunct="1"/>
            <a:r>
              <a:rPr lang="en-US" dirty="0" smtClean="0"/>
              <a:t>Safety checks (e.g., array-bounds)</a:t>
            </a:r>
          </a:p>
          <a:p>
            <a:pPr lvl="2" eaLnBrk="1" hangingPunct="1"/>
            <a:r>
              <a:rPr lang="en-US" dirty="0" smtClean="0"/>
              <a:t>Writing clean code (e.g., recursion</a:t>
            </a:r>
            <a:r>
              <a:rPr lang="en-US" dirty="0" smtClean="0"/>
              <a:t>)</a:t>
            </a:r>
          </a:p>
          <a:p>
            <a:pPr lvl="2" eaLnBrk="1" hangingPunct="1">
              <a:buNone/>
            </a:pPr>
            <a:endParaRPr lang="en-US" dirty="0" smtClean="0"/>
          </a:p>
          <a:p>
            <a:pPr eaLnBrk="1" hangingPunct="1"/>
            <a:r>
              <a:rPr lang="en-US" b="1" dirty="0" smtClean="0"/>
              <a:t>Use program analysis to transform </a:t>
            </a:r>
            <a:r>
              <a:rPr lang="en-US" b="1" dirty="0" smtClean="0"/>
              <a:t>code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34876-76FC-41D9-AC9D-5AF16FEB83BD}" type="slidenum">
              <a:rPr lang="en-US"/>
              <a:pPr/>
              <a:t>5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&amp; The Holy Grail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700" dirty="0" smtClean="0"/>
              <a:t>Other great uses for program analysis: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Static error-checking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200" dirty="0" smtClean="0"/>
              <a:t>Detect information leaks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200" dirty="0" smtClean="0"/>
              <a:t>Avoid security holes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Informing runtime system (e.g., GC)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Even better optimizations!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200" dirty="0" smtClean="0"/>
              <a:t>E.g., locality-improving transformations (“memory wall”)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700" dirty="0" smtClean="0"/>
              <a:t>Holy Grail for compiler research: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Programmer:	writes simple but O(2^n) algorithm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Compiler: 	changes it to O(n log n) (or O(1)!)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4B56-7FAB-4CF1-904A-B51220D5948A}" type="slidenum">
              <a:rPr lang="en-US"/>
              <a:pPr/>
              <a:t>6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Levels of Analysis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811" y="1590307"/>
            <a:ext cx="7771694" cy="449035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300" dirty="0" smtClean="0"/>
              <a:t>(in order of increasing detail &amp; complexity)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000" dirty="0" smtClean="0"/>
          </a:p>
          <a:p>
            <a:pPr eaLnBrk="1" hangingPunct="1">
              <a:lnSpc>
                <a:spcPct val="80000"/>
              </a:lnSpc>
            </a:pPr>
            <a:r>
              <a:rPr lang="en-US" sz="2300" b="1" dirty="0" smtClean="0"/>
              <a:t>Local</a:t>
            </a:r>
            <a:r>
              <a:rPr lang="en-US" sz="2300" dirty="0" smtClean="0"/>
              <a:t> (single-block) [1960’s]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Straight-line 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Simple to analyze; limited impact</a:t>
            </a:r>
          </a:p>
          <a:p>
            <a:pPr eaLnBrk="1" hangingPunct="1">
              <a:lnSpc>
                <a:spcPct val="80000"/>
              </a:lnSpc>
            </a:pPr>
            <a:r>
              <a:rPr lang="en-US" sz="2300" b="1" dirty="0" err="1" smtClean="0"/>
              <a:t>Intraprocedural</a:t>
            </a:r>
            <a:r>
              <a:rPr lang="en-US" sz="2300" dirty="0" smtClean="0"/>
              <a:t> [1970’s – today]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Whole procedure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Dataflow &amp; dependence analysis</a:t>
            </a:r>
          </a:p>
          <a:p>
            <a:pPr eaLnBrk="1" hangingPunct="1">
              <a:lnSpc>
                <a:spcPct val="80000"/>
              </a:lnSpc>
            </a:pPr>
            <a:r>
              <a:rPr lang="en-US" sz="2300" b="1" dirty="0" err="1" smtClean="0"/>
              <a:t>Interprocedural</a:t>
            </a:r>
            <a:r>
              <a:rPr lang="en-US" sz="2300" dirty="0" smtClean="0"/>
              <a:t> [late 1970’s – today]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Whole-program analysis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 smtClean="0"/>
              <a:t>Tricky: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i="1" dirty="0" smtClean="0"/>
              <a:t>Very </a:t>
            </a:r>
            <a:r>
              <a:rPr lang="en-US" sz="2000" dirty="0" smtClean="0"/>
              <a:t>time and space intensive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dirty="0" smtClean="0"/>
              <a:t>Hard for some PL’s (e.g., Java)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E1AA1-20B9-4700-A12A-9D1FFB409A9E}" type="slidenum">
              <a:rPr lang="en-US"/>
              <a:pPr/>
              <a:t>7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799" y="457200"/>
            <a:ext cx="8290775" cy="685800"/>
          </a:xfrm>
        </p:spPr>
        <p:txBody>
          <a:bodyPr/>
          <a:lstStyle/>
          <a:p>
            <a:pPr eaLnBrk="1" hangingPunct="1"/>
            <a:r>
              <a:rPr lang="en-US" dirty="0" smtClean="0"/>
              <a:t>Optimization </a:t>
            </a:r>
            <a:r>
              <a:rPr lang="en-US" dirty="0" smtClean="0"/>
              <a:t>= Analysis </a:t>
            </a:r>
            <a:r>
              <a:rPr lang="en-US" dirty="0" smtClean="0"/>
              <a:t>+ Transformation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700" dirty="0" smtClean="0"/>
              <a:t>Key analyses: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Control-flow</a:t>
            </a:r>
            <a:endParaRPr lang="en-US" sz="2400" dirty="0" smtClean="0"/>
          </a:p>
          <a:p>
            <a:pPr lvl="2" eaLnBrk="1" hangingPunct="1">
              <a:lnSpc>
                <a:spcPct val="80000"/>
              </a:lnSpc>
            </a:pPr>
            <a:r>
              <a:rPr lang="en-US" sz="2200" dirty="0" smtClean="0"/>
              <a:t>if-statements, branches, loops, procedure calls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Data-flow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200" dirty="0" smtClean="0"/>
              <a:t>definitions and uses of variables</a:t>
            </a:r>
          </a:p>
          <a:p>
            <a:pPr eaLnBrk="1" hangingPunct="1">
              <a:lnSpc>
                <a:spcPct val="80000"/>
              </a:lnSpc>
            </a:pPr>
            <a:endParaRPr lang="en-US" sz="2700" dirty="0" smtClean="0"/>
          </a:p>
          <a:p>
            <a:pPr eaLnBrk="1" hangingPunct="1">
              <a:lnSpc>
                <a:spcPct val="80000"/>
              </a:lnSpc>
            </a:pPr>
            <a:r>
              <a:rPr lang="en-US" sz="2700" dirty="0" smtClean="0"/>
              <a:t>Representations: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Control-flow graph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Control-dependence graph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Def/use, use/def chains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 smtClean="0"/>
              <a:t>SSA</a:t>
            </a:r>
            <a:r>
              <a:rPr lang="en-US" sz="2400" dirty="0" smtClean="0"/>
              <a:t> (Static Single Assignment)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Code optimizer sits between the front end and the code generator.</a:t>
            </a:r>
          </a:p>
          <a:p>
            <a:pPr lvl="1"/>
            <a:r>
              <a:rPr lang="en-US"/>
              <a:t>Works with intermediate code.</a:t>
            </a:r>
          </a:p>
          <a:p>
            <a:pPr lvl="1"/>
            <a:r>
              <a:rPr lang="en-US"/>
              <a:t>Can do control flow analysis.</a:t>
            </a:r>
          </a:p>
          <a:p>
            <a:pPr lvl="1"/>
            <a:r>
              <a:rPr lang="en-US"/>
              <a:t>Can do data flow analysis.</a:t>
            </a:r>
          </a:p>
          <a:p>
            <a:pPr lvl="1"/>
            <a:r>
              <a:rPr lang="en-US"/>
              <a:t>Does transformations to improve the intermediate code. 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C5D3-4A70-4AEA-A264-CA478DA7AD0F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4187"/>
            <a:ext cx="5920829" cy="340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70479" y="2807595"/>
            <a:ext cx="5473521" cy="3831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C5D3-4A70-4AEA-A264-CA478DA7AD0F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500" y="435735"/>
            <a:ext cx="4184183" cy="5501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91696" y="543864"/>
            <a:ext cx="4502754" cy="529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Optimizations provided by a compiler includes:</a:t>
            </a:r>
          </a:p>
          <a:p>
            <a:pPr lvl="1"/>
            <a:r>
              <a:rPr lang="en-US" sz="2400"/>
              <a:t>Inlining small functions </a:t>
            </a:r>
          </a:p>
          <a:p>
            <a:pPr lvl="1"/>
            <a:r>
              <a:rPr lang="en-US" sz="2400"/>
              <a:t>Code hoisting </a:t>
            </a:r>
          </a:p>
          <a:p>
            <a:pPr lvl="1"/>
            <a:r>
              <a:rPr lang="en-US" sz="2400"/>
              <a:t>Dead store elimination</a:t>
            </a:r>
          </a:p>
          <a:p>
            <a:pPr lvl="1"/>
            <a:r>
              <a:rPr lang="en-US" sz="2400"/>
              <a:t>Eliminating common sub-expressions </a:t>
            </a:r>
          </a:p>
          <a:p>
            <a:pPr lvl="1"/>
            <a:r>
              <a:rPr lang="en-US" sz="2400"/>
              <a:t>Loop unrolling</a:t>
            </a:r>
          </a:p>
          <a:p>
            <a:pPr lvl="1"/>
            <a:r>
              <a:rPr lang="en-US" sz="2400"/>
              <a:t>Loop optimizations: Code motion, Induction variable elimination, and Reduction in strength.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Inlining small functions</a:t>
            </a:r>
          </a:p>
          <a:p>
            <a:pPr lvl="1"/>
            <a:r>
              <a:rPr lang="en-US"/>
              <a:t>Repeatedly inserting the function code instead of calling it, saves the calling overhead and enable further optimizations. </a:t>
            </a:r>
          </a:p>
          <a:p>
            <a:pPr lvl="1"/>
            <a:r>
              <a:rPr lang="en-US"/>
              <a:t>Inlining large functions will make the executable too large.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hoisting</a:t>
            </a:r>
          </a:p>
          <a:p>
            <a:pPr lvl="1"/>
            <a:r>
              <a:rPr lang="en-US"/>
              <a:t>Moving computations outside loops</a:t>
            </a:r>
          </a:p>
          <a:p>
            <a:pPr lvl="1"/>
            <a:r>
              <a:rPr lang="en-US"/>
              <a:t>Saves computing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Code hoisting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In the following example (2.0 * PI) is an invariant expression there is no reason to recompute it 100 times.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DO I = 1, 100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		ARRAY(I) = 2.0 * PI * I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ENDDO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400"/>
              <a:t>By introducing a temporary variable 't' it can be transformed to: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t = 2.0 * PI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DO I = 1, 100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		ARRAY(I) = t * I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/>
              <a:t>END 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Dead store elimination </a:t>
            </a:r>
          </a:p>
          <a:p>
            <a:pPr lvl="1"/>
            <a:r>
              <a:rPr lang="en-US"/>
              <a:t>If the compiler detects variables that are never used, it may safely ignore many of the operations that compute their values.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Eliminating common sub-expressions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Optimization compilers are able to perform quite well: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/>
              <a:t>			X = A * LOG(Y) + (LOG(Y) ** 2)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Introduce an explicit temporary variable t: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/>
              <a:t>			t = LOG(Y)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/>
              <a:t>			X = A * t + (t ** 2)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Saves one 'heavy' function call, by an elimination of the common sub-expression LOG(Y), the exponentiation now is: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/>
              <a:t>			X = (A + t) * 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Loop unrolling</a:t>
            </a:r>
          </a:p>
          <a:p>
            <a:pPr lvl="1">
              <a:lnSpc>
                <a:spcPct val="90000"/>
              </a:lnSpc>
            </a:pPr>
            <a:r>
              <a:rPr lang="en-US"/>
              <a:t>The loop exit checks cost CPU time.</a:t>
            </a:r>
          </a:p>
          <a:p>
            <a:pPr lvl="1">
              <a:lnSpc>
                <a:spcPct val="90000"/>
              </a:lnSpc>
            </a:pPr>
            <a:r>
              <a:rPr lang="en-US"/>
              <a:t>Loop unrolling tries to get rid of the checks completely or to reduce the number of checks.</a:t>
            </a:r>
          </a:p>
          <a:p>
            <a:pPr lvl="1">
              <a:lnSpc>
                <a:spcPct val="90000"/>
              </a:lnSpc>
            </a:pPr>
            <a:r>
              <a:rPr lang="en-US"/>
              <a:t>If you know a loop is only performed a certain number of times, or if you know the number of times it will be repeated is a multiple of a constant you can unroll this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Loop unrolling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// old loop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for(int i=0; i&lt;3; i++)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		color_map[n+i] = i;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// unrolled version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int i = 0;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colormap[n+i] = i;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i++;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colormap[n+i] = i;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i++;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	colormap[n+i] = i;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Compiler Code Optimizations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Code Motion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Any code inside a loop that always computes the same value can be moved before the loop.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Example: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	while (</a:t>
            </a:r>
            <a:r>
              <a:rPr lang="en-US" sz="2000" dirty="0" err="1"/>
              <a:t>i</a:t>
            </a:r>
            <a:r>
              <a:rPr lang="en-US" sz="2000" dirty="0"/>
              <a:t> &lt;= limit-2)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	do {loop code}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where the loop code doesn't change the limit variable. The subtraction, limit-2, will be inside the loop. Code motion would substitute: 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	t = limit-2;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	while (</a:t>
            </a:r>
            <a:r>
              <a:rPr lang="en-US" sz="2000" dirty="0" err="1"/>
              <a:t>i</a:t>
            </a:r>
            <a:r>
              <a:rPr lang="en-US" sz="2000" dirty="0"/>
              <a:t> &lt;= 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 dirty="0"/>
              <a:t>		do {loop code}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Compiler Code Optimizations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Conclusion</a:t>
            </a:r>
          </a:p>
          <a:p>
            <a:pPr lvl="1"/>
            <a:r>
              <a:rPr lang="en-US"/>
              <a:t>Compilers can provide some code optimization.</a:t>
            </a:r>
          </a:p>
          <a:p>
            <a:pPr lvl="1"/>
            <a:r>
              <a:rPr lang="en-US"/>
              <a:t>Programmers do have to worry about such optimizations.</a:t>
            </a:r>
          </a:p>
          <a:p>
            <a:pPr lvl="1"/>
            <a:r>
              <a:rPr lang="en-US"/>
              <a:t>Program definition must be preserved.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160563403</TotalTime>
  <Words>610</Words>
  <Application>Microsoft Office PowerPoint</Application>
  <PresentationFormat>On-screen Show (4:3)</PresentationFormat>
  <Paragraphs>161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Standarddesign</vt:lpstr>
      <vt:lpstr>Slide 1</vt:lpstr>
      <vt:lpstr>Slide 2</vt:lpstr>
      <vt:lpstr>Compiler Code Optimizations</vt:lpstr>
      <vt:lpstr>Why Compilers Matter</vt:lpstr>
      <vt:lpstr>Analysis &amp; The Holy Grail</vt:lpstr>
      <vt:lpstr>Levels of Analysis</vt:lpstr>
      <vt:lpstr>Optimization = Analysis + Transformation</vt:lpstr>
      <vt:lpstr>Compiler Code Optimizations</vt:lpstr>
      <vt:lpstr>Slide 9</vt:lpstr>
      <vt:lpstr>Slide 10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  <vt:lpstr>Compiler Code Optimizations</vt:lpstr>
    </vt:vector>
  </TitlesOfParts>
  <Company>Inst.f.Prakt.Informatik (SSW)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Javascript-Anweisungen</dc:title>
  <dc:creator>Mössenböck</dc:creator>
  <cp:lastModifiedBy>aa</cp:lastModifiedBy>
  <cp:revision>735</cp:revision>
  <cp:lastPrinted>2001-09-28T08:52:55Z</cp:lastPrinted>
  <dcterms:created xsi:type="dcterms:W3CDTF">2000-03-12T09:29:13Z</dcterms:created>
  <dcterms:modified xsi:type="dcterms:W3CDTF">2010-11-18T18:45:37Z</dcterms:modified>
</cp:coreProperties>
</file>